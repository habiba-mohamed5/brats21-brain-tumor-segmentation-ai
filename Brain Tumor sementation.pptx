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nton" charset="1" panose="00000500000000000000"/>
      <p:regular r:id="rId21"/>
    </p:embeddedFont>
    <p:embeddedFont>
      <p:font typeface="Agrandir Bold" charset="1" panose="00000800000000000000"/>
      <p:regular r:id="rId22"/>
    </p:embeddedFont>
    <p:embeddedFont>
      <p:font typeface="Agrandir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7.jpe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jpeg" Type="http://schemas.openxmlformats.org/officeDocument/2006/relationships/image"/><Relationship Id="rId11" Target="../media/image6.png" Type="http://schemas.openxmlformats.org/officeDocument/2006/relationships/image"/><Relationship Id="rId12" Target="../media/image7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jpe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28" r="0" b="-882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06649" y="-65257"/>
            <a:ext cx="10675733" cy="106757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65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98847" y="826941"/>
            <a:ext cx="8891337" cy="8891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9000"/>
                  </a:srgbClr>
                </a:gs>
                <a:gs pos="100000">
                  <a:srgbClr val="FFFFFF">
                    <a:alpha val="4602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83115" y="1582099"/>
            <a:ext cx="7122801" cy="71228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solidFill>
              <a:srgbClr val="2258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867494" y="2629638"/>
            <a:ext cx="8464450" cy="416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10633">
                <a:solidFill>
                  <a:srgbClr val="3584D0"/>
                </a:solidFill>
                <a:latin typeface="Anton"/>
                <a:ea typeface="Anton"/>
                <a:cs typeface="Anton"/>
                <a:sym typeface="Anton"/>
              </a:rPr>
              <a:t>BRAIN TUMOR SEGMENTATION USING 3D U-NET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8318" y="6786904"/>
            <a:ext cx="7122801" cy="574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gradFill>
                  <a:gsLst>
                    <a:gs pos="0">
                      <a:srgbClr val="22588D">
                        <a:alpha val="100000"/>
                      </a:srgbClr>
                    </a:gs>
                    <a:gs pos="100000">
                      <a:srgbClr val="01070D">
                        <a:alpha val="100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USING BRATS MRI DATASET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26882" y="3050071"/>
            <a:ext cx="3683366" cy="4114800"/>
          </a:xfrm>
          <a:custGeom>
            <a:avLst/>
            <a:gdLst/>
            <a:ahLst/>
            <a:cxnLst/>
            <a:rect r="r" b="b" t="t" l="l"/>
            <a:pathLst>
              <a:path h="4114800" w="3683366">
                <a:moveTo>
                  <a:pt x="0" y="0"/>
                </a:moveTo>
                <a:lnTo>
                  <a:pt x="3683366" y="0"/>
                </a:lnTo>
                <a:lnTo>
                  <a:pt x="36833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6850" y="4076076"/>
            <a:ext cx="6105749" cy="103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13423" y="4742694"/>
            <a:ext cx="9666432" cy="33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6"/>
              </a:lnSpc>
            </a:pPr>
            <a:r>
              <a:rPr lang="en-US" sz="3299" b="true">
                <a:solidFill>
                  <a:srgbClr val="86DA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Challenges in Brain Tumor Analysis</a:t>
            </a:r>
          </a:p>
          <a:p>
            <a:pPr algn="just">
              <a:lnSpc>
                <a:spcPts val="3926"/>
              </a:lnSpc>
            </a:pPr>
          </a:p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Manual segmentation is time- consumimg     </a:t>
            </a:r>
          </a:p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Volume estimation is inaccurate</a:t>
            </a:r>
          </a:p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Results vary between clinicians</a:t>
            </a:r>
          </a:p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Lack of real-time 3D insights</a:t>
            </a: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21300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99742" y="7796907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6850" y="1049038"/>
            <a:ext cx="7104101" cy="257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9"/>
              </a:lnSpc>
              <a:spcBef>
                <a:spcPct val="0"/>
              </a:spcBef>
            </a:pPr>
            <a:r>
              <a:rPr lang="en-US" sz="7399">
                <a:solidFill>
                  <a:srgbClr val="40B5E8"/>
                </a:solidFill>
                <a:latin typeface="Anton"/>
                <a:ea typeface="Anton"/>
                <a:cs typeface="Anton"/>
                <a:sym typeface="Anton"/>
              </a:rPr>
              <a:t> THE CLINICAL PROBLEM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71906" y="4239894"/>
            <a:ext cx="9718275" cy="254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899" b="true">
                <a:solidFill>
                  <a:srgbClr val="86DA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End-to-End Intelligent Neuroimaging Platform</a:t>
            </a:r>
          </a:p>
          <a:p>
            <a:pPr algn="l">
              <a:lnSpc>
                <a:spcPts val="2260"/>
              </a:lnSpc>
            </a:pPr>
          </a:p>
          <a:p>
            <a:pPr algn="l" marL="410209" indent="-205105" lvl="1">
              <a:lnSpc>
                <a:spcPts val="2260"/>
              </a:lnSpc>
              <a:buFont typeface="Arial"/>
              <a:buChar char="•"/>
            </a:pPr>
            <a:r>
              <a:rPr lang="en-US" b="true" sz="18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Automatic tumor segmentation</a:t>
            </a:r>
          </a:p>
          <a:p>
            <a:pPr algn="l" marL="410209" indent="-205105" lvl="1">
              <a:lnSpc>
                <a:spcPts val="2260"/>
              </a:lnSpc>
              <a:buFont typeface="Arial"/>
              <a:buChar char="•"/>
            </a:pPr>
            <a:r>
              <a:rPr lang="en-US" b="true" sz="18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Multi-region analysis</a:t>
            </a:r>
          </a:p>
          <a:p>
            <a:pPr algn="l" marL="410209" indent="-205105" lvl="1">
              <a:lnSpc>
                <a:spcPts val="2260"/>
              </a:lnSpc>
              <a:buFont typeface="Arial"/>
              <a:buChar char="•"/>
            </a:pPr>
            <a:r>
              <a:rPr lang="en-US" b="true" sz="18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Real-time volume computation</a:t>
            </a:r>
          </a:p>
          <a:p>
            <a:pPr algn="l" marL="410209" indent="-205105" lvl="1">
              <a:lnSpc>
                <a:spcPts val="2260"/>
              </a:lnSpc>
              <a:buFont typeface="Arial"/>
              <a:buChar char="•"/>
            </a:pPr>
            <a:r>
              <a:rPr lang="en-US" b="true" sz="18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AI confidence scoring</a:t>
            </a:r>
          </a:p>
          <a:p>
            <a:pPr algn="l" marL="410209" indent="-205105" lvl="1">
              <a:lnSpc>
                <a:spcPts val="2260"/>
              </a:lnSpc>
              <a:buFont typeface="Arial"/>
              <a:buChar char="•"/>
            </a:pPr>
            <a:r>
              <a:rPr lang="en-US" b="true" sz="18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Clinical visualization dashboard</a:t>
            </a:r>
          </a:p>
          <a:p>
            <a:pPr algn="l">
              <a:lnSpc>
                <a:spcPts val="392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124643" y="842273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18948" y="8422739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30038" y="-243608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5084" y="2673528"/>
            <a:ext cx="11014317" cy="5508174"/>
          </a:xfrm>
          <a:custGeom>
            <a:avLst/>
            <a:gdLst/>
            <a:ahLst/>
            <a:cxnLst/>
            <a:rect r="r" b="b" t="t" l="l"/>
            <a:pathLst>
              <a:path h="5508174" w="11014317">
                <a:moveTo>
                  <a:pt x="0" y="0"/>
                </a:moveTo>
                <a:lnTo>
                  <a:pt x="11014317" y="0"/>
                </a:lnTo>
                <a:lnTo>
                  <a:pt x="11014317" y="5508175"/>
                </a:lnTo>
                <a:lnTo>
                  <a:pt x="0" y="55081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98" t="0" r="-7827" b="-329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521826" y="1903839"/>
            <a:ext cx="6105749" cy="20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40B5E8"/>
                </a:solidFill>
                <a:latin typeface="Anton"/>
                <a:ea typeface="Anton"/>
                <a:cs typeface="Anton"/>
                <a:sym typeface="Anton"/>
              </a:rPr>
              <a:t> OUR AI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45015" y="-20574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5142" y="8446364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94256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82698" y="3264248"/>
            <a:ext cx="10538316" cy="5072775"/>
          </a:xfrm>
          <a:custGeom>
            <a:avLst/>
            <a:gdLst/>
            <a:ahLst/>
            <a:cxnLst/>
            <a:rect r="r" b="b" t="t" l="l"/>
            <a:pathLst>
              <a:path h="5072775" w="10538316">
                <a:moveTo>
                  <a:pt x="0" y="0"/>
                </a:moveTo>
                <a:lnTo>
                  <a:pt x="10538316" y="0"/>
                </a:lnTo>
                <a:lnTo>
                  <a:pt x="10538316" y="5072775"/>
                </a:lnTo>
                <a:lnTo>
                  <a:pt x="0" y="5072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003" r="-4037" b="-119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365082"/>
            <a:ext cx="8715449" cy="103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DATASET (BRATS 2021)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259" y="2682214"/>
            <a:ext cx="4427339" cy="6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330" y="3586945"/>
            <a:ext cx="3526827" cy="4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40B5E8"/>
                </a:solidFill>
                <a:latin typeface="Agrandir Bold"/>
                <a:ea typeface="Agrandir Bold"/>
                <a:cs typeface="Agrandir Bold"/>
                <a:sym typeface="Agrandir Bold"/>
              </a:rPr>
              <a:t>MULTI-MODAL MRI: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330" y="4144556"/>
            <a:ext cx="1328559" cy="165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T2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FLAIR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T1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T1CE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212196"/>
            <a:ext cx="2880636" cy="48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40B5E8"/>
                </a:solidFill>
                <a:latin typeface="Agrandir Bold"/>
                <a:ea typeface="Agrandir Bold"/>
                <a:cs typeface="Agrandir Bold"/>
                <a:sym typeface="Agrandir Bold"/>
              </a:rPr>
              <a:t>TUMOR CLASSES: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9330" y="6960921"/>
            <a:ext cx="2924651" cy="103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NECROTIC CORE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EDEMA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ENHANCING TUMOR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46443" y="-20574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6" y="0"/>
                </a:lnTo>
                <a:lnTo>
                  <a:pt x="22893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1557" y="82296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7392" y="542761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83398" y="2565897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2723886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4056" y="2944766"/>
            <a:ext cx="6105749" cy="20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DATA 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05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283398" y="4191297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50"/>
                </a:lnTo>
                <a:lnTo>
                  <a:pt x="0" y="1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4349286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83398" y="5816698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144000" y="5974686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283398" y="7442098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4000" y="7600087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10247" y="2964273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0247" y="4635124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10247" y="6212627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3.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10247" y="7838028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4.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92088" y="2989984"/>
            <a:ext cx="3301305" cy="39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78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LOAD NIFTI MRI VOLUMES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78992" y="4561275"/>
            <a:ext cx="5276210" cy="37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NORMALIZE EACH MODALITY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78992" y="6250310"/>
            <a:ext cx="527621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CROP VOLUMES TO 128×128×128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60333" y="7924860"/>
            <a:ext cx="4199274" cy="30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b="true" sz="15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STACK MODALITIES INTO 4-CHANNEL INPUT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58486" y="-1909009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52151" y="8068989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51526" y="4083475"/>
            <a:ext cx="11451619" cy="2906881"/>
          </a:xfrm>
          <a:custGeom>
            <a:avLst/>
            <a:gdLst/>
            <a:ahLst/>
            <a:cxnLst/>
            <a:rect r="r" b="b" t="t" l="l"/>
            <a:pathLst>
              <a:path h="2906881" w="11451619">
                <a:moveTo>
                  <a:pt x="0" y="0"/>
                </a:moveTo>
                <a:lnTo>
                  <a:pt x="11451619" y="0"/>
                </a:lnTo>
                <a:lnTo>
                  <a:pt x="11451619" y="2906881"/>
                </a:lnTo>
                <a:lnTo>
                  <a:pt x="0" y="2906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1" t="0" r="-101" b="-66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75313" y="1606688"/>
            <a:ext cx="8235848" cy="20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TUMOR SEGMENTATION 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55597" y="7629703"/>
            <a:ext cx="9125247" cy="162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EACH COLOR REPRESENTS A TUMOR REGIO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ACCURATE DETECTION OF TUMOR PARTS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 FINAL OVERLAY SHOWS FULL TUMOR ARE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259300" y="5178518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3" y="0"/>
                </a:lnTo>
                <a:lnTo>
                  <a:pt x="447063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2290" y="-198222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564727"/>
            <a:ext cx="8926909" cy="7353503"/>
          </a:xfrm>
          <a:custGeom>
            <a:avLst/>
            <a:gdLst/>
            <a:ahLst/>
            <a:cxnLst/>
            <a:rect r="r" b="b" t="t" l="l"/>
            <a:pathLst>
              <a:path h="7353503" w="8926909">
                <a:moveTo>
                  <a:pt x="0" y="0"/>
                </a:moveTo>
                <a:lnTo>
                  <a:pt x="8926909" y="0"/>
                </a:lnTo>
                <a:lnTo>
                  <a:pt x="8926909" y="7353503"/>
                </a:lnTo>
                <a:lnTo>
                  <a:pt x="0" y="73535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31" t="0" r="-888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54823" y="2564727"/>
            <a:ext cx="6306283" cy="3736930"/>
          </a:xfrm>
          <a:custGeom>
            <a:avLst/>
            <a:gdLst/>
            <a:ahLst/>
            <a:cxnLst/>
            <a:rect r="r" b="b" t="t" l="l"/>
            <a:pathLst>
              <a:path h="3736930" w="6306283">
                <a:moveTo>
                  <a:pt x="0" y="0"/>
                </a:moveTo>
                <a:lnTo>
                  <a:pt x="6306283" y="0"/>
                </a:lnTo>
                <a:lnTo>
                  <a:pt x="6306283" y="3736930"/>
                </a:lnTo>
                <a:lnTo>
                  <a:pt x="0" y="37369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75" r="0" b="-117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54823" y="6435007"/>
            <a:ext cx="6306283" cy="3678798"/>
          </a:xfrm>
          <a:custGeom>
            <a:avLst/>
            <a:gdLst/>
            <a:ahLst/>
            <a:cxnLst/>
            <a:rect r="r" b="b" t="t" l="l"/>
            <a:pathLst>
              <a:path h="3678798" w="6306283">
                <a:moveTo>
                  <a:pt x="0" y="0"/>
                </a:moveTo>
                <a:lnTo>
                  <a:pt x="6306283" y="0"/>
                </a:lnTo>
                <a:lnTo>
                  <a:pt x="6306283" y="3678798"/>
                </a:lnTo>
                <a:lnTo>
                  <a:pt x="0" y="36787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300" r="0" b="-230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21321" y="320356"/>
            <a:ext cx="10086644" cy="20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3D TUMOR VISUALIZATION&amp;STRUCTURE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97577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4914" y="2982306"/>
            <a:ext cx="16024386" cy="6083216"/>
          </a:xfrm>
          <a:custGeom>
            <a:avLst/>
            <a:gdLst/>
            <a:ahLst/>
            <a:cxnLst/>
            <a:rect r="r" b="b" t="t" l="l"/>
            <a:pathLst>
              <a:path h="6083216" w="16024386">
                <a:moveTo>
                  <a:pt x="0" y="0"/>
                </a:moveTo>
                <a:lnTo>
                  <a:pt x="16024386" y="0"/>
                </a:lnTo>
                <a:lnTo>
                  <a:pt x="16024386" y="6083216"/>
                </a:lnTo>
                <a:lnTo>
                  <a:pt x="0" y="6083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09" t="-3817" r="-1109" b="-220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00678" y="332886"/>
            <a:ext cx="10086644" cy="20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3D TUMOR VISUALIZATION&amp;STRUCTURE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564" y="525886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08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090092" y="-20574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4665" y="841448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99742" y="-140787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93993" y="5396615"/>
            <a:ext cx="530146" cy="530146"/>
          </a:xfrm>
          <a:custGeom>
            <a:avLst/>
            <a:gdLst/>
            <a:ahLst/>
            <a:cxnLst/>
            <a:rect r="r" b="b" t="t" l="l"/>
            <a:pathLst>
              <a:path h="530146" w="530146">
                <a:moveTo>
                  <a:pt x="0" y="0"/>
                </a:moveTo>
                <a:lnTo>
                  <a:pt x="530146" y="0"/>
                </a:lnTo>
                <a:lnTo>
                  <a:pt x="530146" y="530146"/>
                </a:lnTo>
                <a:lnTo>
                  <a:pt x="0" y="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3005" y="2913989"/>
            <a:ext cx="10131318" cy="4268963"/>
          </a:xfrm>
          <a:custGeom>
            <a:avLst/>
            <a:gdLst/>
            <a:ahLst/>
            <a:cxnLst/>
            <a:rect r="r" b="b" t="t" l="l"/>
            <a:pathLst>
              <a:path h="4268963" w="10131318">
                <a:moveTo>
                  <a:pt x="0" y="0"/>
                </a:moveTo>
                <a:lnTo>
                  <a:pt x="10131319" y="0"/>
                </a:lnTo>
                <a:lnTo>
                  <a:pt x="10131319" y="4268964"/>
                </a:lnTo>
                <a:lnTo>
                  <a:pt x="0" y="42689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7059" b="-1338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80786" y="6491584"/>
            <a:ext cx="7802045" cy="3422350"/>
          </a:xfrm>
          <a:custGeom>
            <a:avLst/>
            <a:gdLst/>
            <a:ahLst/>
            <a:cxnLst/>
            <a:rect r="r" b="b" t="t" l="l"/>
            <a:pathLst>
              <a:path h="3422350" w="7802045">
                <a:moveTo>
                  <a:pt x="0" y="0"/>
                </a:moveTo>
                <a:lnTo>
                  <a:pt x="7802045" y="0"/>
                </a:lnTo>
                <a:lnTo>
                  <a:pt x="7802045" y="3422350"/>
                </a:lnTo>
                <a:lnTo>
                  <a:pt x="0" y="34223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93" t="0" r="-349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52220" y="782874"/>
            <a:ext cx="8198258" cy="20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REAL-TIME TUMOR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60540" y="-1899601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55856" y="7876941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8608" y="4765691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2746" y="1407096"/>
            <a:ext cx="7006743" cy="20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 MODEL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32691" y="4379798"/>
            <a:ext cx="9726609" cy="296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Fully 3D convolutional neural network</a:t>
            </a:r>
          </a:p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Encoder–Decoder structure</a:t>
            </a:r>
          </a:p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Skip connections preserve spatial details</a:t>
            </a:r>
          </a:p>
          <a:p>
            <a:pPr algn="l" marL="712462" indent="-356231" lvl="1">
              <a:lnSpc>
                <a:spcPts val="3926"/>
              </a:lnSpc>
              <a:buFont typeface="Arial"/>
              <a:buChar char="•"/>
            </a:pPr>
            <a:r>
              <a:rPr lang="en-US" b="true" sz="3299">
                <a:solidFill>
                  <a:srgbClr val="FCFE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Output: 3 segmentation maps (one per tumor class)</a:t>
            </a:r>
          </a:p>
          <a:p>
            <a:pPr algn="l">
              <a:lnSpc>
                <a:spcPts val="309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18013" y="4832485"/>
            <a:ext cx="5276210" cy="73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3D U-NET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23189" y="5510567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3" y="0"/>
                </a:lnTo>
                <a:lnTo>
                  <a:pt x="447063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392" y="814371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46443" y="-1899392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6" y="0"/>
                </a:lnTo>
                <a:lnTo>
                  <a:pt x="22893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39632" y="1765757"/>
            <a:ext cx="13890857" cy="103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TRAINING CONFIGURATION &amp; STRATEGY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6895" y="3724266"/>
            <a:ext cx="4815959" cy="73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TRAINING PROCESS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1320" y="3724266"/>
            <a:ext cx="4025682" cy="73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TRAINING SETUP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36182" y="5029200"/>
            <a:ext cx="4815959" cy="365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FRAMEWORK: PYTORCH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LOSS FUNCTION: BCEWITHLOGITSLOSS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OPTIMIZER: ADAM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LEARNING RATE: 1E-3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BATCH SIZE: 2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EPOCHS: 10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MIXED PRECISION TRAINING (AMP)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3276" y="5029200"/>
            <a:ext cx="7720607" cy="125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TRAINED ON FIRST 300 CASES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STABLE LOSS REDUCTION ACROSS EPOCHS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 CHECKPOINT SAVED AFTER EACH EPOCH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943276" y="833886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60009" y="5272609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3" y="0"/>
                </a:lnTo>
                <a:lnTo>
                  <a:pt x="447063" y="393416"/>
                </a:lnTo>
                <a:lnTo>
                  <a:pt x="0" y="39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44401" y="8469772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07652" y="-1921368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81243" y="2462184"/>
            <a:ext cx="4736996" cy="6915322"/>
          </a:xfrm>
          <a:custGeom>
            <a:avLst/>
            <a:gdLst/>
            <a:ahLst/>
            <a:cxnLst/>
            <a:rect r="r" b="b" t="t" l="l"/>
            <a:pathLst>
              <a:path h="6915322" w="4736996">
                <a:moveTo>
                  <a:pt x="0" y="0"/>
                </a:moveTo>
                <a:lnTo>
                  <a:pt x="4736996" y="0"/>
                </a:lnTo>
                <a:lnTo>
                  <a:pt x="4736996" y="6915322"/>
                </a:lnTo>
                <a:lnTo>
                  <a:pt x="0" y="6915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3230734"/>
            <a:ext cx="4790618" cy="5703117"/>
          </a:xfrm>
          <a:custGeom>
            <a:avLst/>
            <a:gdLst/>
            <a:ahLst/>
            <a:cxnLst/>
            <a:rect r="r" b="b" t="t" l="l"/>
            <a:pathLst>
              <a:path h="5703117" w="4790618">
                <a:moveTo>
                  <a:pt x="0" y="0"/>
                </a:moveTo>
                <a:lnTo>
                  <a:pt x="4790618" y="0"/>
                </a:lnTo>
                <a:lnTo>
                  <a:pt x="4790618" y="5703118"/>
                </a:lnTo>
                <a:lnTo>
                  <a:pt x="0" y="57031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70005" y="728147"/>
            <a:ext cx="5989295" cy="5497084"/>
          </a:xfrm>
          <a:custGeom>
            <a:avLst/>
            <a:gdLst/>
            <a:ahLst/>
            <a:cxnLst/>
            <a:rect r="r" b="b" t="t" l="l"/>
            <a:pathLst>
              <a:path h="5497084" w="5989295">
                <a:moveTo>
                  <a:pt x="0" y="0"/>
                </a:moveTo>
                <a:lnTo>
                  <a:pt x="5989295" y="0"/>
                </a:lnTo>
                <a:lnTo>
                  <a:pt x="5989295" y="5497083"/>
                </a:lnTo>
                <a:lnTo>
                  <a:pt x="0" y="54970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4685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51691" y="6521732"/>
            <a:ext cx="6007609" cy="1766126"/>
          </a:xfrm>
          <a:custGeom>
            <a:avLst/>
            <a:gdLst/>
            <a:ahLst/>
            <a:cxnLst/>
            <a:rect r="r" b="b" t="t" l="l"/>
            <a:pathLst>
              <a:path h="1766126" w="6007609">
                <a:moveTo>
                  <a:pt x="0" y="0"/>
                </a:moveTo>
                <a:lnTo>
                  <a:pt x="6007609" y="0"/>
                </a:lnTo>
                <a:lnTo>
                  <a:pt x="6007609" y="1766126"/>
                </a:lnTo>
                <a:lnTo>
                  <a:pt x="0" y="17661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9330" y="1162050"/>
            <a:ext cx="6105749" cy="103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FINAL TRANING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97973" y="835183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61199" y="-1045926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6258" y="3103336"/>
            <a:ext cx="6105749" cy="103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FUTURE 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189" y="5133975"/>
            <a:ext cx="470203" cy="293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365656" y="4837944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26258" y="4995933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365656" y="6463345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26258" y="6621333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06815" y="5178874"/>
            <a:ext cx="2986326" cy="50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Dice / Focal loss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92505" y="5236320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92505" y="6907171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2.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270411" y="4687169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31013" y="4845158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270411" y="6312569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131013" y="6470558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497261" y="5085544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3.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97261" y="6756395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4.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1570" y="6645561"/>
            <a:ext cx="3835051" cy="50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Cross-validation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567310" y="2002759"/>
            <a:ext cx="3144598" cy="6222128"/>
            <a:chOff x="0" y="0"/>
            <a:chExt cx="2620010" cy="51841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gradFill rotWithShape="true">
              <a:gsLst>
                <a:gs pos="0">
                  <a:srgbClr val="22588D">
                    <a:alpha val="100000"/>
                  </a:srgbClr>
                </a:gs>
                <a:gs pos="100000">
                  <a:srgbClr val="01070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l="-31263" t="0" r="-31263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-3410411" y="276209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6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806815" y="6851974"/>
            <a:ext cx="3208436" cy="508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  <a:spcBef>
                <a:spcPct val="0"/>
              </a:spcBef>
            </a:pPr>
            <a:r>
              <a:rPr lang="en-US" sz="27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Data augmentation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21381" y="5060952"/>
            <a:ext cx="3874413" cy="4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  <a:spcBef>
                <a:spcPct val="0"/>
              </a:spcBef>
            </a:pPr>
            <a:r>
              <a:rPr lang="en-US" sz="2283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Full BraTS evaluation metrics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2588D">
                <a:alpha val="100000"/>
              </a:srgbClr>
            </a:gs>
            <a:gs pos="100000">
              <a:srgbClr val="0107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E7DEDE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35769" y="5143500"/>
            <a:ext cx="447063" cy="393415"/>
          </a:xfrm>
          <a:custGeom>
            <a:avLst/>
            <a:gdLst/>
            <a:ahLst/>
            <a:cxnLst/>
            <a:rect r="r" b="b" t="t" l="l"/>
            <a:pathLst>
              <a:path h="393415" w="447063">
                <a:moveTo>
                  <a:pt x="0" y="0"/>
                </a:moveTo>
                <a:lnTo>
                  <a:pt x="447062" y="0"/>
                </a:lnTo>
                <a:lnTo>
                  <a:pt x="447062" y="393415"/>
                </a:lnTo>
                <a:lnTo>
                  <a:pt x="0" y="393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810139" y="8233932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30"/>
                </a:lnTo>
                <a:lnTo>
                  <a:pt x="0" y="1064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64860" y="3219450"/>
            <a:ext cx="6105749" cy="103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3"/>
              </a:lnSpc>
            </a:pPr>
            <a:r>
              <a:rPr lang="en-US" sz="7670">
                <a:solidFill>
                  <a:srgbClr val="86DAFF"/>
                </a:solidFill>
                <a:latin typeface="Anton"/>
                <a:ea typeface="Anton"/>
                <a:cs typeface="Anton"/>
                <a:sym typeface="Anton"/>
              </a:rPr>
              <a:t>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14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4860" y="47388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5462" y="4896884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4860" y="63642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5462" y="6522285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4" y="0"/>
                </a:lnTo>
                <a:lnTo>
                  <a:pt x="1069984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99304" y="5070300"/>
            <a:ext cx="2986326" cy="60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338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Nada Hossam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91709" y="5137271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91709" y="6808122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9279" y="6697288"/>
            <a:ext cx="4056066" cy="50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Marwan Abdelghaffer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7594818" y="47388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455420" y="4896884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4"/>
                </a:lnTo>
                <a:lnTo>
                  <a:pt x="0" y="10699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594818" y="6364296"/>
            <a:ext cx="5276210" cy="1323849"/>
          </a:xfrm>
          <a:custGeom>
            <a:avLst/>
            <a:gdLst/>
            <a:ahLst/>
            <a:cxnLst/>
            <a:rect r="r" b="b" t="t" l="l"/>
            <a:pathLst>
              <a:path h="1323849" w="5276210">
                <a:moveTo>
                  <a:pt x="0" y="0"/>
                </a:moveTo>
                <a:lnTo>
                  <a:pt x="5276210" y="0"/>
                </a:lnTo>
                <a:lnTo>
                  <a:pt x="5276210" y="1323849"/>
                </a:lnTo>
                <a:lnTo>
                  <a:pt x="0" y="13238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55420" y="6522285"/>
            <a:ext cx="1069983" cy="1069983"/>
          </a:xfrm>
          <a:custGeom>
            <a:avLst/>
            <a:gdLst/>
            <a:ahLst/>
            <a:cxnLst/>
            <a:rect r="r" b="b" t="t" l="l"/>
            <a:pathLst>
              <a:path h="1069983" w="1069983">
                <a:moveTo>
                  <a:pt x="0" y="0"/>
                </a:moveTo>
                <a:lnTo>
                  <a:pt x="1069983" y="0"/>
                </a:lnTo>
                <a:lnTo>
                  <a:pt x="1069983" y="1069983"/>
                </a:lnTo>
                <a:lnTo>
                  <a:pt x="0" y="10699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929262" y="5079825"/>
            <a:ext cx="3676668" cy="50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Habiba Mohamed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21667" y="5137271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3.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21667" y="6808122"/>
            <a:ext cx="511963" cy="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4.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29262" y="6697288"/>
            <a:ext cx="3676668" cy="50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83">
                <a:solidFill>
                  <a:srgbClr val="FCFEFF"/>
                </a:solidFill>
                <a:latin typeface="Agrandir"/>
                <a:ea typeface="Agrandir"/>
                <a:cs typeface="Agrandir"/>
                <a:sym typeface="Agrandir"/>
              </a:rPr>
              <a:t>Basel Abdelmaqsoud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471103" y="2466296"/>
            <a:ext cx="3304503" cy="5354408"/>
            <a:chOff x="0" y="0"/>
            <a:chExt cx="484144" cy="7844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4144" cy="784476"/>
            </a:xfrm>
            <a:custGeom>
              <a:avLst/>
              <a:gdLst/>
              <a:ahLst/>
              <a:cxnLst/>
              <a:rect r="r" b="b" t="t" l="l"/>
              <a:pathLst>
                <a:path h="784476" w="484144">
                  <a:moveTo>
                    <a:pt x="53885" y="0"/>
                  </a:moveTo>
                  <a:lnTo>
                    <a:pt x="430258" y="0"/>
                  </a:lnTo>
                  <a:cubicBezTo>
                    <a:pt x="460018" y="0"/>
                    <a:pt x="484144" y="24125"/>
                    <a:pt x="484144" y="53885"/>
                  </a:cubicBezTo>
                  <a:lnTo>
                    <a:pt x="484144" y="730590"/>
                  </a:lnTo>
                  <a:cubicBezTo>
                    <a:pt x="484144" y="744882"/>
                    <a:pt x="478466" y="758588"/>
                    <a:pt x="468361" y="768693"/>
                  </a:cubicBezTo>
                  <a:cubicBezTo>
                    <a:pt x="458255" y="778799"/>
                    <a:pt x="444549" y="784476"/>
                    <a:pt x="430258" y="784476"/>
                  </a:cubicBezTo>
                  <a:lnTo>
                    <a:pt x="53885" y="784476"/>
                  </a:lnTo>
                  <a:cubicBezTo>
                    <a:pt x="39594" y="784476"/>
                    <a:pt x="25888" y="778799"/>
                    <a:pt x="15783" y="768693"/>
                  </a:cubicBezTo>
                  <a:cubicBezTo>
                    <a:pt x="5677" y="758588"/>
                    <a:pt x="0" y="744882"/>
                    <a:pt x="0" y="730590"/>
                  </a:cubicBezTo>
                  <a:lnTo>
                    <a:pt x="0" y="53885"/>
                  </a:lnTo>
                  <a:cubicBezTo>
                    <a:pt x="0" y="39594"/>
                    <a:pt x="5677" y="25888"/>
                    <a:pt x="15783" y="15783"/>
                  </a:cubicBezTo>
                  <a:cubicBezTo>
                    <a:pt x="25888" y="5677"/>
                    <a:pt x="39594" y="0"/>
                    <a:pt x="53885" y="0"/>
                  </a:cubicBezTo>
                  <a:close/>
                </a:path>
              </a:pathLst>
            </a:custGeom>
            <a:blipFill>
              <a:blip r:embed="rId10"/>
              <a:stretch>
                <a:fillRect l="-71487" t="0" r="-71487" b="0"/>
              </a:stretch>
            </a:blipFill>
            <a:ln w="76200" cap="rnd">
              <a:gradFill>
                <a:gsLst>
                  <a:gs pos="0">
                    <a:srgbClr val="22588D">
                      <a:alpha val="100000"/>
                    </a:srgbClr>
                  </a:gs>
                  <a:gs pos="100000">
                    <a:srgbClr val="58A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3978692" y="-1028700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978692" y="7342958"/>
            <a:ext cx="2289325" cy="4114800"/>
          </a:xfrm>
          <a:custGeom>
            <a:avLst/>
            <a:gdLst/>
            <a:ahLst/>
            <a:cxnLst/>
            <a:rect r="r" b="b" t="t" l="l"/>
            <a:pathLst>
              <a:path h="4114800" w="2289325">
                <a:moveTo>
                  <a:pt x="0" y="0"/>
                </a:moveTo>
                <a:lnTo>
                  <a:pt x="2289325" y="0"/>
                </a:lnTo>
                <a:lnTo>
                  <a:pt x="22893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65257"/>
            <a:ext cx="10675733" cy="106757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65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2198" y="826941"/>
            <a:ext cx="8891337" cy="88913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9000"/>
                  </a:srgbClr>
                </a:gs>
                <a:gs pos="100000">
                  <a:srgbClr val="FFFFFF">
                    <a:alpha val="4602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76466" y="1711209"/>
            <a:ext cx="7122801" cy="712280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78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4837944"/>
            <a:ext cx="869330" cy="869330"/>
            <a:chOff x="0" y="0"/>
            <a:chExt cx="228959" cy="2289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959" cy="228959"/>
            </a:xfrm>
            <a:custGeom>
              <a:avLst/>
              <a:gdLst/>
              <a:ahLst/>
              <a:cxnLst/>
              <a:rect r="r" b="b" t="t" l="l"/>
              <a:pathLst>
                <a:path h="228959" w="228959">
                  <a:moveTo>
                    <a:pt x="0" y="0"/>
                  </a:moveTo>
                  <a:lnTo>
                    <a:pt x="228959" y="0"/>
                  </a:lnTo>
                  <a:lnTo>
                    <a:pt x="228959" y="228959"/>
                  </a:lnTo>
                  <a:lnTo>
                    <a:pt x="0" y="228959"/>
                  </a:lnTo>
                  <a:close/>
                </a:path>
              </a:pathLst>
            </a:custGeom>
            <a:solidFill>
              <a:srgbClr val="22588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28959" cy="267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7189" y="5133975"/>
            <a:ext cx="470203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15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63148" y="4278774"/>
            <a:ext cx="5149438" cy="143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10633">
                <a:solidFill>
                  <a:srgbClr val="3584D0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53114" y="5636633"/>
            <a:ext cx="3769504" cy="143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10633">
                <a:solidFill>
                  <a:srgbClr val="22588D"/>
                </a:solidFill>
                <a:latin typeface="Anton"/>
                <a:ea typeface="Anton"/>
                <a:cs typeface="Anton"/>
                <a:sym typeface="Anton"/>
              </a:rPr>
              <a:t>YOU.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301769" y="2673434"/>
            <a:ext cx="327451" cy="438195"/>
          </a:xfrm>
          <a:custGeom>
            <a:avLst/>
            <a:gdLst/>
            <a:ahLst/>
            <a:cxnLst/>
            <a:rect r="r" b="b" t="t" l="l"/>
            <a:pathLst>
              <a:path h="438195" w="327451">
                <a:moveTo>
                  <a:pt x="0" y="0"/>
                </a:moveTo>
                <a:lnTo>
                  <a:pt x="327452" y="0"/>
                </a:lnTo>
                <a:lnTo>
                  <a:pt x="327452" y="438195"/>
                </a:lnTo>
                <a:lnTo>
                  <a:pt x="0" y="43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841053" y="2663909"/>
            <a:ext cx="1532910" cy="52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2"/>
              </a:lnSpc>
            </a:pPr>
            <a:r>
              <a:rPr lang="en-US" sz="1899" b="true">
                <a:solidFill>
                  <a:srgbClr val="22588D"/>
                </a:solidFill>
                <a:latin typeface="Agrandir Bold"/>
                <a:ea typeface="Agrandir Bold"/>
                <a:cs typeface="Agrandir Bold"/>
                <a:sym typeface="Agrandir Bold"/>
              </a:rPr>
              <a:t>THYNK UNLIMITED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11803" y="7756608"/>
            <a:ext cx="3452128" cy="29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899">
                <a:solidFill>
                  <a:srgbClr val="22588D"/>
                </a:solidFill>
                <a:latin typeface="Agrandir"/>
                <a:ea typeface="Agrandir"/>
                <a:cs typeface="Agrandir"/>
                <a:sym typeface="Agrandir"/>
              </a:rPr>
              <a:t>www.realllygreatsite.com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DAHAYdKrXMo</dc:identifier>
  <dcterms:modified xsi:type="dcterms:W3CDTF">2011-08-01T06:04:30Z</dcterms:modified>
  <cp:revision>1</cp:revision>
  <dc:title>Brain Tumor sementation</dc:title>
</cp:coreProperties>
</file>